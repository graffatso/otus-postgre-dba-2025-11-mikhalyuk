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4" r:id="rId3"/>
    <p:sldMasterId id="214748367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7559675" cy="10691813"/>
  <p:embeddedFontLst>
    <p:embeddedFont>
      <p:font typeface="Roboto Medium"/>
    </p:embeddedFont>
    <p:embeddedFont>
      <p:font typeface="PT Mono"/>
      <p:regular r:id="rId23"/>
      <p:bold r:id="rId24"/>
    </p:embeddedFont>
    <p:embeddedFont>
      <p:font typeface="Roboto"/>
      <p:regular r:id="rId25"/>
      <p:bold r:id="rId26"/>
      <p:italic r:id="rId27"/>
      <p:boldItalic r:id="rId2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6.xml"/><Relationship Id="rId4" Type="http://schemas.openxmlformats.org/officeDocument/2006/relationships/slideMaster" Target="slideMasters/slideMaster2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font" Target="fonts/Font_1_PT_Mono_Regular.fntdata"/><Relationship Id="rId24" Type="http://schemas.openxmlformats.org/officeDocument/2006/relationships/font" Target="fonts/Font_2_PT_Mono_Bold.fntdata"/><Relationship Id="rId25" Type="http://schemas.openxmlformats.org/officeDocument/2006/relationships/font" Target="fonts/Font_3_Roboto_Regular.fntdata"/><Relationship Id="rId26" Type="http://schemas.openxmlformats.org/officeDocument/2006/relationships/font" Target="fonts/Font_4_Roboto_Bold.fntdata"/><Relationship Id="rId27" Type="http://schemas.openxmlformats.org/officeDocument/2006/relationships/font" Target="fonts/Font_5_Roboto_Italic.fntdata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<Relationship Id="rId3" Type="http://schemas.openxmlformats.org/officeDocument/2006/relationships/image" Target="../media/image4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<Relationship Id="rId3" Type="http://schemas.openxmlformats.org/officeDocument/2006/relationships/image" Target="../media/image5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49;p12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53;p13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58;p14"/>
          <p:cNvSpPr/>
          <p:nvPr/>
        </p:nvSpPr>
        <p:spPr>
          <a:xfrm>
            <a:off x="606240" y="2144160"/>
            <a:ext cx="7937640" cy="24634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62;p15"/>
          <p:cNvSpPr/>
          <p:nvPr/>
        </p:nvSpPr>
        <p:spPr>
          <a:xfrm>
            <a:off x="362160" y="1384200"/>
            <a:ext cx="4747680" cy="33922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/>
          <p:nvPr/>
        </p:nvPicPr>
        <p:blipFill>
          <a:blip r:embed="rId3"/>
          <a:srcRect l="100" t="0" r="100" b="0"/>
          <a:stretch/>
        </p:blipFill>
        <p:spPr>
          <a:xfrm>
            <a:off x="-18000" y="-10080"/>
            <a:ext cx="9193680" cy="518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44640" y="1769040"/>
            <a:ext cx="7378560" cy="237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5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_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440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419472-8054-481A-B709-8D8E2BC81EC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0400" y="1784880"/>
            <a:ext cx="7934400" cy="114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891BF6-5661-49DC-AF38-15D72523474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0400" y="1426320"/>
            <a:ext cx="8519400" cy="3415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10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10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10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10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10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10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F6F7B9-8420-4987-A056-A98472E6D68C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D1307B2-EAD2-4F76-B107-CC072D5AF51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500400" y="821160"/>
            <a:ext cx="8519400" cy="198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F92BC1-3649-4D4C-BBF6-9FEC1C7641CA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Google Shape;31;p7"/>
          <p:cNvPicPr/>
          <p:nvPr/>
        </p:nvPicPr>
        <p:blipFill>
          <a:blip r:embed="rId3"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080" cy="408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8;p9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rgbClr val="F3F3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120" y="1220760"/>
            <a:ext cx="4044240" cy="148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5800" cy="3693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36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104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104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10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10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104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EA6036-3233-4436-B7C8-6FB4B29B41DF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6D81767-6109-4001-AA44-67D20C40A815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Google Shape;91;p20"/>
          <p:cNvGraphicFramePr/>
          <p:nvPr/>
        </p:nvGraphicFramePr>
        <p:xfrm>
          <a:off x="655560" y="1745640"/>
          <a:ext cx="8209800" cy="1494720"/>
        </p:xfrm>
        <a:graphic>
          <a:graphicData uri="http://schemas.openxmlformats.org/drawingml/2006/table">
            <a:tbl>
              <a:tblPr/>
              <a:tblGrid>
                <a:gridCol w="3800160"/>
                <a:gridCol w="4410000"/>
              </a:tblGrid>
              <a:tr h="47880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pos="0" algn="l"/>
                        </a:tabLst>
                      </a:pPr>
                      <a:r>
                        <a:rPr lang="ru" sz="17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 Описание эксперимента</a:t>
                      </a:r>
                      <a:r>
                        <a:rPr lang="ru" sz="17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Aft>
                          <a:spcPts val="1001"/>
                        </a:spcAft>
                        <a:tabLst>
                          <a:tab pos="0" algn="l"/>
                        </a:tabLst>
                      </a:pPr>
                      <a:r>
                        <a:rPr lang="ru" sz="17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 Технические детали</a:t>
                      </a:r>
                      <a:endParaRPr lang="ru-RU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015920">
                <a:tc>
                  <a:txBody>
                    <a:bodyPr lIns="91080" tIns="91080" rIns="91080" bIns="91080" anchor="t">
                      <a:noAutofit/>
                    </a:bodyPr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Гипотеза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Целевая аудитория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  Ожидаемый результат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 marL="457200" indent="-31752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7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</a:t>
                      </a: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Реализация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Настройки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324000">
                        <a:lnSpc>
                          <a:spcPct val="115000"/>
                        </a:lnSpc>
                        <a:buClr>
                          <a:srgbClr val="000000"/>
                        </a:buClr>
                        <a:buFont typeface="Roboto"/>
                        <a:buChar char="●"/>
                      </a:pPr>
                      <a:r>
                        <a:rPr lang="ru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 Метрики</a:t>
                      </a:r>
                      <a:endParaRPr lang="ru-RU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93;p21"/>
          <p:cNvSpPr/>
          <p:nvPr/>
        </p:nvSpPr>
        <p:spPr>
          <a:xfrm>
            <a:off x="556200" y="4554000"/>
            <a:ext cx="42390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84240" rIns="90000" bIns="842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добавьте ссылку на источник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51600" y="1648440"/>
            <a:ext cx="7705080" cy="15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" name="Google Shape;98;p23"/>
          <p:cNvGraphicFramePr/>
          <p:nvPr/>
        </p:nvGraphicFramePr>
        <p:xfrm>
          <a:off x="608760" y="1593720"/>
          <a:ext cx="7959960" cy="3112560"/>
        </p:xfrm>
        <a:graphic>
          <a:graphicData uri="http://schemas.openxmlformats.org/drawingml/2006/table">
            <a:tbl>
              <a:tblPr/>
              <a:tblGrid>
                <a:gridCol w="395640"/>
                <a:gridCol w="2403360"/>
                <a:gridCol w="2684520"/>
                <a:gridCol w="2476800"/>
              </a:tblGrid>
              <a:tr h="705960">
                <a:tc>
                  <a:txBody>
                    <a:bodyPr lIns="91080" tIns="91080" r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080" tIns="91080" rIns="91080" b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Название столбца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12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Текст нежирным шрифтом</a:t>
                      </a:r>
                      <a:endParaRPr lang="ru-RU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  <a:tr h="42012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9857F3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5.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D9D9D9"/>
                      </a:solidFill>
                      <a:prstDash val="solid"/>
                    </a:lnL>
                    <a:lnR w="9360">
                      <a:solidFill>
                        <a:srgbClr val="D9D9D9"/>
                      </a:solidFill>
                      <a:prstDash val="solid"/>
                    </a:lnR>
                    <a:lnT w="9360">
                      <a:solidFill>
                        <a:srgbClr val="D9D9D9"/>
                      </a:solidFill>
                      <a:prstDash val="solid"/>
                    </a:lnT>
                    <a:lnB w="9360">
                      <a:solidFill>
                        <a:srgbClr val="D9D9D9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D0BE9D-C603-42AC-A521-F3ABDA897245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Google Shape;101;p24"/>
          <p:cNvSpPr/>
          <p:nvPr/>
        </p:nvSpPr>
        <p:spPr>
          <a:xfrm>
            <a:off x="791640" y="103932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102;p24"/>
          <p:cNvSpPr/>
          <p:nvPr/>
        </p:nvSpPr>
        <p:spPr>
          <a:xfrm>
            <a:off x="791640" y="190476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103;p24"/>
          <p:cNvSpPr/>
          <p:nvPr/>
        </p:nvSpPr>
        <p:spPr>
          <a:xfrm>
            <a:off x="791640" y="277056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04;p24"/>
          <p:cNvSpPr/>
          <p:nvPr/>
        </p:nvSpPr>
        <p:spPr>
          <a:xfrm>
            <a:off x="791640" y="3636360"/>
            <a:ext cx="3639600" cy="70488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105;p24"/>
          <p:cNvSpPr/>
          <p:nvPr/>
        </p:nvSpPr>
        <p:spPr>
          <a:xfrm>
            <a:off x="5533920" y="1409040"/>
            <a:ext cx="2467800" cy="24678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110;p26"/>
          <p:cNvSpPr/>
          <p:nvPr/>
        </p:nvSpPr>
        <p:spPr>
          <a:xfrm>
            <a:off x="932760" y="1748160"/>
            <a:ext cx="2126880" cy="2928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11;p26"/>
          <p:cNvSpPr/>
          <p:nvPr/>
        </p:nvSpPr>
        <p:spPr>
          <a:xfrm>
            <a:off x="3436560" y="1748160"/>
            <a:ext cx="2126880" cy="2928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112;p26"/>
          <p:cNvSpPr/>
          <p:nvPr/>
        </p:nvSpPr>
        <p:spPr>
          <a:xfrm>
            <a:off x="5940000" y="1748160"/>
            <a:ext cx="2126880" cy="2928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13;p26"/>
          <p:cNvSpPr/>
          <p:nvPr/>
        </p:nvSpPr>
        <p:spPr>
          <a:xfrm>
            <a:off x="1073520" y="2075040"/>
            <a:ext cx="18450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14;p26"/>
          <p:cNvSpPr/>
          <p:nvPr/>
        </p:nvSpPr>
        <p:spPr>
          <a:xfrm>
            <a:off x="3530880" y="2075040"/>
            <a:ext cx="19378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15;p26"/>
          <p:cNvSpPr/>
          <p:nvPr/>
        </p:nvSpPr>
        <p:spPr>
          <a:xfrm>
            <a:off x="6081120" y="2075040"/>
            <a:ext cx="19378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333333"/>
                </a:solidFill>
                <a:effectLst/>
                <a:uFillTx/>
                <a:latin typeface="Roboto"/>
                <a:ea typeface="Roboto"/>
              </a:rPr>
              <a:t>Поле для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95360" y="1494000"/>
            <a:ext cx="4422960" cy="178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Google Shape;71;p17"/>
          <p:cNvPicPr/>
          <p:nvPr/>
        </p:nvPicPr>
        <p:blipFill>
          <a:blip r:embed="rId3"/>
          <a:stretch/>
        </p:blipFill>
        <p:spPr>
          <a:xfrm>
            <a:off x="5283720" y="843120"/>
            <a:ext cx="3456360" cy="345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4440" y="1793880"/>
            <a:ext cx="7934400" cy="155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883D1DF-7389-4661-B2FE-9CB34F6F6A1D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4440" y="1793880"/>
            <a:ext cx="7934400" cy="155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8807B4-2D3F-433E-B5D3-4D110DD042DF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Google Shape;77;p19"/>
          <p:cNvPicPr/>
          <p:nvPr/>
        </p:nvPicPr>
        <p:blipFill>
          <a:blip r:embed="rId3"/>
          <a:stretch/>
        </p:blipFill>
        <p:spPr>
          <a:xfrm>
            <a:off x="92268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66" name="Google Shape;78;p19"/>
          <p:cNvPicPr/>
          <p:nvPr/>
        </p:nvPicPr>
        <p:blipFill>
          <a:blip r:embed="rId4"/>
          <a:stretch/>
        </p:blipFill>
        <p:spPr>
          <a:xfrm>
            <a:off x="276840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67" name="Google Shape;79;p19"/>
          <p:cNvPicPr/>
          <p:nvPr/>
        </p:nvPicPr>
        <p:blipFill>
          <a:blip r:embed="rId5"/>
          <a:stretch/>
        </p:blipFill>
        <p:spPr>
          <a:xfrm>
            <a:off x="452772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pic>
        <p:nvPicPr>
          <p:cNvPr id="68" name="Google Shape;80;p19"/>
          <p:cNvPicPr/>
          <p:nvPr/>
        </p:nvPicPr>
        <p:blipFill>
          <a:blip r:embed="rId6"/>
          <a:stretch/>
        </p:blipFill>
        <p:spPr>
          <a:xfrm>
            <a:off x="6347160" y="1821240"/>
            <a:ext cx="1641960" cy="754200"/>
          </a:xfrm>
          <a:prstGeom prst="rect">
            <a:avLst/>
          </a:prstGeom>
          <a:noFill/>
          <a:ln w="0">
            <a:noFill/>
          </a:ln>
          <a:effectLst>
            <a:outerShdw algn="bl" blurRad="142920" dir="5400000" dist="28440" rotWithShape="0">
              <a:srgbClr val="000000">
                <a:alpha val="41000"/>
              </a:srgbClr>
            </a:outerShdw>
          </a:effectLst>
        </p:spPr>
      </p:pic>
      <p:sp>
        <p:nvSpPr>
          <p:cNvPr id="69" name="Google Shape;81;p19"/>
          <p:cNvSpPr/>
          <p:nvPr/>
        </p:nvSpPr>
        <p:spPr>
          <a:xfrm>
            <a:off x="1212840" y="1944720"/>
            <a:ext cx="1062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1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82;p19"/>
          <p:cNvSpPr/>
          <p:nvPr/>
        </p:nvSpPr>
        <p:spPr>
          <a:xfrm>
            <a:off x="3058560" y="1944720"/>
            <a:ext cx="1062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2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83;p19"/>
          <p:cNvSpPr/>
          <p:nvPr/>
        </p:nvSpPr>
        <p:spPr>
          <a:xfrm>
            <a:off x="4817880" y="1944720"/>
            <a:ext cx="1062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3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84;p19"/>
          <p:cNvSpPr/>
          <p:nvPr/>
        </p:nvSpPr>
        <p:spPr>
          <a:xfrm>
            <a:off x="6637320" y="1944720"/>
            <a:ext cx="1062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1" u="none" strike="noStrike">
                <a:solidFill>
                  <a:srgbClr val="EEEEEE"/>
                </a:solidFill>
                <a:effectLst/>
                <a:uFillTx/>
                <a:latin typeface="Roboto"/>
                <a:ea typeface="Roboto"/>
              </a:rPr>
              <a:t>Этап 4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85;p19"/>
          <p:cNvSpPr/>
          <p:nvPr/>
        </p:nvSpPr>
        <p:spPr>
          <a:xfrm>
            <a:off x="982800" y="3241440"/>
            <a:ext cx="1522080" cy="11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86;p19"/>
          <p:cNvSpPr/>
          <p:nvPr/>
        </p:nvSpPr>
        <p:spPr>
          <a:xfrm>
            <a:off x="2828520" y="3241440"/>
            <a:ext cx="1522080" cy="11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87;p19"/>
          <p:cNvSpPr/>
          <p:nvPr/>
        </p:nvSpPr>
        <p:spPr>
          <a:xfrm>
            <a:off x="4587840" y="3241440"/>
            <a:ext cx="1522080" cy="11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88;p19"/>
          <p:cNvSpPr/>
          <p:nvPr/>
        </p:nvSpPr>
        <p:spPr>
          <a:xfrm>
            <a:off x="6406920" y="3241440"/>
            <a:ext cx="1522080" cy="11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Описание данных в виде набора сущностей, отношений между ними, атрибутов сущностей,  их типов данных, соглашений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" sz="900" b="0" u="none" strike="noStrik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об именовании и правил проверки целостностей 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35;p33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40;p34"/>
          <p:cNvSpPr/>
          <p:nvPr/>
        </p:nvSpPr>
        <p:spPr>
          <a:xfrm>
            <a:off x="606240" y="2144160"/>
            <a:ext cx="7937640" cy="246348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_2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35;p33"/>
          <p:cNvSpPr/>
          <p:nvPr/>
        </p:nvSpPr>
        <p:spPr>
          <a:xfrm>
            <a:off x="590400" y="1365120"/>
            <a:ext cx="7987320" cy="34113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4400" cy="128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F608CE-EAA5-4859-BA69-1C4FB7BB08B7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0400" y="1720800"/>
            <a:ext cx="7934400" cy="128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3CEABAB-7035-400A-B90D-01531393772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304293-38D5-49BF-8596-08DF71AFF3BA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&lt;номер&gt;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97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97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97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9;p31"/>
          <p:cNvSpPr/>
          <p:nvPr/>
        </p:nvSpPr>
        <p:spPr>
          <a:xfrm>
            <a:off x="606240" y="1441080"/>
            <a:ext cx="7937640" cy="3564000"/>
          </a:xfrm>
          <a:prstGeom prst="rect">
            <a:avLst/>
          </a:prstGeom>
          <a:solidFill>
            <a:srgbClr val="FBFB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_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080" cy="408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51600" y="396360"/>
            <a:ext cx="7705080" cy="408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3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46;p35"/>
          <p:cNvPicPr/>
          <p:nvPr/>
        </p:nvPicPr>
        <p:blipFill>
          <a:blip r:embed="rId1"/>
          <a:srcRect l="18591" t="0" r="18584" b="0"/>
          <a:stretch/>
        </p:blipFill>
        <p:spPr>
          <a:xfrm>
            <a:off x="180000" y="1440000"/>
            <a:ext cx="8279640" cy="274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Google Shape;147;p35"/>
          <p:cNvSpPr/>
          <p:nvPr/>
        </p:nvSpPr>
        <p:spPr>
          <a:xfrm>
            <a:off x="433080" y="1535040"/>
            <a:ext cx="7583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" sz="4000" b="1" u="none" strike="noStrike">
                <a:solidFill>
                  <a:schemeClr val="lt1"/>
                </a:solidFill>
                <a:effectLst/>
                <a:uFillTx/>
                <a:latin typeface="PT Mono"/>
                <a:ea typeface="Roboto"/>
              </a:rPr>
              <a:t>Настройка и оптимизация кластера PostgreSQL для работы с базами 1с 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148;p35"/>
          <p:cNvPicPr/>
          <p:nvPr/>
        </p:nvPicPr>
        <p:blipFill>
          <a:blip r:embed="rId2"/>
          <a:stretch/>
        </p:blipFill>
        <p:spPr>
          <a:xfrm>
            <a:off x="7913880" y="268920"/>
            <a:ext cx="821160" cy="28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Google Shape;149;p35"/>
          <p:cNvSpPr/>
          <p:nvPr/>
        </p:nvSpPr>
        <p:spPr>
          <a:xfrm>
            <a:off x="629640" y="3960000"/>
            <a:ext cx="4949640" cy="71928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50;p35"/>
          <p:cNvSpPr/>
          <p:nvPr/>
        </p:nvSpPr>
        <p:spPr>
          <a:xfrm>
            <a:off x="629640" y="3960000"/>
            <a:ext cx="4949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" sz="1900" b="0" u="none" strike="noStrike">
                <a:solidFill>
                  <a:srgbClr val="FFFFFF"/>
                </a:solidFill>
                <a:effectLst/>
                <a:uFillTx/>
                <a:latin typeface="Roboto Medium"/>
                <a:ea typeface="Roboto Medium"/>
              </a:rPr>
              <a:t>PostgreSQL для администраторов баз данных и разработчиков </a:t>
            </a:r>
            <a:endParaRPr lang="ru-RU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Google Shape;151;p35"/>
          <p:cNvPicPr/>
          <p:nvPr/>
        </p:nvPicPr>
        <p:blipFill>
          <a:blip r:embed="rId3"/>
          <a:stretch/>
        </p:blipFill>
        <p:spPr>
          <a:xfrm>
            <a:off x="7409880" y="3083760"/>
            <a:ext cx="1547280" cy="166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4440" y="1793520"/>
            <a:ext cx="7934400" cy="155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&amp; слышно?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157;p36"/>
          <p:cNvPicPr/>
          <p:nvPr/>
        </p:nvPicPr>
        <p:blipFill>
          <a:blip r:embed="rId1"/>
          <a:stretch/>
        </p:blipFill>
        <p:spPr>
          <a:xfrm>
            <a:off x="3080160" y="1203120"/>
            <a:ext cx="2982240" cy="298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158;p36"/>
          <p:cNvPicPr/>
          <p:nvPr/>
        </p:nvPicPr>
        <p:blipFill>
          <a:blip r:embed="rId2"/>
          <a:stretch/>
        </p:blipFill>
        <p:spPr>
          <a:xfrm>
            <a:off x="825480" y="3890880"/>
            <a:ext cx="536040" cy="5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0400" y="313560"/>
            <a:ext cx="8519400" cy="184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64;p37"/>
          <p:cNvSpPr/>
          <p:nvPr/>
        </p:nvSpPr>
        <p:spPr>
          <a:xfrm>
            <a:off x="630000" y="2085840"/>
            <a:ext cx="2349000" cy="2317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65;p37"/>
          <p:cNvSpPr/>
          <p:nvPr/>
        </p:nvSpPr>
        <p:spPr>
          <a:xfrm>
            <a:off x="3899520" y="2336400"/>
            <a:ext cx="370080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ru" sz="2300" b="1" u="none" strike="noStrike">
                <a:solidFill>
                  <a:srgbClr val="3F299A"/>
                </a:solidFill>
                <a:effectLst/>
                <a:uFillTx/>
                <a:latin typeface="Roboto"/>
                <a:ea typeface="Roboto"/>
              </a:rPr>
              <a:t>Михаил Михалюк</a:t>
            </a:r>
            <a:endParaRPr lang="ru-RU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66;p37"/>
          <p:cNvSpPr/>
          <p:nvPr/>
        </p:nvSpPr>
        <p:spPr>
          <a:xfrm>
            <a:off x="3899520" y="2893320"/>
            <a:ext cx="319212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" sz="1300" b="0" u="none" strike="noStrike">
                <a:solidFill>
                  <a:srgbClr val="000000"/>
                </a:solidFill>
                <a:effectLst/>
                <a:uFillTx/>
                <a:latin typeface="Roboto Medium"/>
                <a:ea typeface="Roboto Medium"/>
              </a:rPr>
              <a:t>«Сисадмин», «админ 1с»,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tabLst>
                <a:tab pos="0" algn="l"/>
              </a:tabLst>
            </a:pPr>
            <a:r>
              <a:rPr lang="ru" sz="1300" b="0" u="none" strike="noStrike">
                <a:solidFill>
                  <a:srgbClr val="000000"/>
                </a:solidFill>
                <a:effectLst/>
                <a:uFillTx/>
                <a:latin typeface="Roboto Medium"/>
                <a:ea typeface="Roboto Medium"/>
              </a:rPr>
              <a:t>в IT с 2008г, последние лет 10 автоматизация powershell, bash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38560" y="348840"/>
            <a:ext cx="8519400" cy="66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План защиты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72;p38"/>
          <p:cNvSpPr/>
          <p:nvPr/>
        </p:nvSpPr>
        <p:spPr>
          <a:xfrm>
            <a:off x="1137960" y="149148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tIns="91440" rIns="162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Цель и задачи проекта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73;p38"/>
          <p:cNvSpPr/>
          <p:nvPr/>
        </p:nvSpPr>
        <p:spPr>
          <a:xfrm>
            <a:off x="1137960" y="207144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tIns="91440" rIns="162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Какие технологии использовались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74;p38"/>
          <p:cNvSpPr/>
          <p:nvPr/>
        </p:nvSpPr>
        <p:spPr>
          <a:xfrm>
            <a:off x="1137960" y="265176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tIns="91440" rIns="162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получилось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75;p38"/>
          <p:cNvSpPr/>
          <p:nvPr/>
        </p:nvSpPr>
        <p:spPr>
          <a:xfrm>
            <a:off x="1137960" y="324612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tIns="91440" rIns="162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Выводы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" name="Google Shape;176;p38"/>
          <p:cNvCxnSpPr>
            <a:stCxn id="120" idx="1"/>
            <a:endCxn id="121" idx="1"/>
          </p:cNvCxnSpPr>
          <p:nvPr/>
        </p:nvCxnSpPr>
        <p:spPr>
          <a:xfrm>
            <a:off x="1137960" y="1679040"/>
            <a:ext cx="360" cy="580320"/>
          </a:xfrm>
          <a:prstGeom prst="bentConnector3">
            <a:avLst>
              <a:gd name="adj1" fmla="val 66200000"/>
            </a:avLst>
          </a:prstGeom>
          <a:ln w="9525">
            <a:noFill/>
          </a:ln>
        </p:spPr>
      </p:cxnSp>
      <p:sp>
        <p:nvSpPr>
          <p:cNvPr id="125" name="Google Shape;180;p38"/>
          <p:cNvSpPr/>
          <p:nvPr/>
        </p:nvSpPr>
        <p:spPr>
          <a:xfrm>
            <a:off x="1137960" y="3772800"/>
            <a:ext cx="3384000" cy="37512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tIns="91440" rIns="162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Вопросы и рекомендации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85;p39"/>
          <p:cNvSpPr/>
          <p:nvPr/>
        </p:nvSpPr>
        <p:spPr>
          <a:xfrm>
            <a:off x="560520" y="324720"/>
            <a:ext cx="8519400" cy="130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Google Shape;186;p39"/>
          <p:cNvGraphicFramePr/>
          <p:nvPr/>
        </p:nvGraphicFramePr>
        <p:xfrm>
          <a:off x="952560" y="2346120"/>
          <a:ext cx="7238160" cy="265860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1.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Кластер из 13 БД разделить на три кластера(прод, архив, тест)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2.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В созданных кластерах создать табличные пространства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3.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Переместить БД в различные кластеры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4.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5. 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Данные БД перенести в соответствующие пространства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Кластер обновить с 15 до 17 версии postgresql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8" name="Google Shape;187;p39"/>
          <p:cNvSpPr/>
          <p:nvPr/>
        </p:nvSpPr>
        <p:spPr>
          <a:xfrm>
            <a:off x="1628280" y="1386360"/>
            <a:ext cx="5886360" cy="66096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62000" tIns="91440" rIns="162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>
                <a:solidFill>
                  <a:schemeClr val="dk1"/>
                </a:solidFill>
                <a:effectLst/>
                <a:uFillTx/>
                <a:latin typeface="PT Mono"/>
                <a:ea typeface="Roboto Medium"/>
              </a:rPr>
              <a:t>Цель проекта: обновить кластер СУБД с учетом рекомендаций 1с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560520" y="324720"/>
            <a:ext cx="8228880" cy="95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rgbClr val="000000"/>
                </a:solidFill>
                <a:effectLst/>
                <a:uFillTx/>
                <a:latin typeface="PT Mono"/>
                <a:ea typeface="Roboto"/>
              </a:rPr>
              <a:t>Цель и задачи проекта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Какие технологии использовались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Google Shape;199;p40"/>
          <p:cNvGraphicFramePr/>
          <p:nvPr/>
        </p:nvGraphicFramePr>
        <p:xfrm>
          <a:off x="952560" y="1897920"/>
          <a:ext cx="7238160" cy="2284200"/>
        </p:xfrm>
        <a:graphic>
          <a:graphicData uri="http://schemas.openxmlformats.org/drawingml/2006/table">
            <a:tbl>
              <a:tblPr/>
              <a:tblGrid>
                <a:gridCol w="653040"/>
                <a:gridCol w="6585480"/>
              </a:tblGrid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Средства виртуализации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Механизмы операционной системы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Команды psql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56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Вводные данные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3" name=""/>
          <p:cNvGraphicFramePr/>
          <p:nvPr/>
        </p:nvGraphicFramePr>
        <p:xfrm>
          <a:off x="547200" y="1450080"/>
          <a:ext cx="4328280" cy="3419640"/>
        </p:xfrm>
        <a:graphic>
          <a:graphicData uri="http://schemas.openxmlformats.org/drawingml/2006/table">
            <a:tbl>
              <a:tblPr/>
              <a:tblGrid>
                <a:gridCol w="1096200"/>
                <a:gridCol w="440280"/>
                <a:gridCol w="776880"/>
                <a:gridCol w="776880"/>
                <a:gridCol w="536040"/>
                <a:gridCol w="702360"/>
              </a:tblGrid>
              <a:tr h="216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        Имя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Владелец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 Размер,гб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Табл. пространство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config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type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acc_3_stat_archive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5000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archive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7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9931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prod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stat_acc_other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11000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stat_acc_zf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3054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prod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stat_alfa_5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15000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alfa_5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prod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stat_alfa_invent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10090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alfa_5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stat_erp_demo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2871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erp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stat_hrm_2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1188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hrm_2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archive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stat_hrm_3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1984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hrm_3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prod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template0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7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template1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7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1722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other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test_stat_acc_3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8137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test_stat_alfa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postgres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13000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alfa_5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test_stat_hrm_3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1635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hrm_3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test_sync_stat_acc_3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8213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acc_3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test_sync_stat_alfa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13000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alfa_5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80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 trade_stat_archive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stat_sql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1427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trade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archive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4" name=""/>
          <p:cNvGraphicFramePr/>
          <p:nvPr/>
        </p:nvGraphicFramePr>
        <p:xfrm>
          <a:off x="5361120" y="1466280"/>
          <a:ext cx="3136320" cy="1421280"/>
        </p:xfrm>
        <a:graphic>
          <a:graphicData uri="http://schemas.openxmlformats.org/drawingml/2006/table">
            <a:tbl>
              <a:tblPr/>
              <a:tblGrid>
                <a:gridCol w="781920"/>
                <a:gridCol w="547920"/>
                <a:gridCol w="488160"/>
                <a:gridCol w="452160"/>
                <a:gridCol w="440640"/>
                <a:gridCol w="425880"/>
              </a:tblGrid>
              <a:tr h="4168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tablespace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archive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prod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system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summary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pg_default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v81c_index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53000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v81c_data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35000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53000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7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temp_tablespaces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904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wal_folder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ru-RU" sz="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40000</a:t>
                      </a:r>
                      <a:endParaRPr lang="ru-RU" sz="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38640" y="351000"/>
            <a:ext cx="8213400" cy="112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Выполняемые работы: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396;p 2"/>
          <p:cNvSpPr/>
          <p:nvPr/>
        </p:nvSpPr>
        <p:spPr>
          <a:xfrm>
            <a:off x="612000" y="1269720"/>
            <a:ext cx="7487640" cy="19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 marL="457200" indent="-311040">
              <a:lnSpc>
                <a:spcPct val="115000"/>
              </a:lnSpc>
              <a:buClr>
                <a:srgbClr val="3F299A"/>
              </a:buClr>
              <a:buFont typeface="Roboto"/>
              <a:buChar char="●"/>
            </a:pPr>
            <a:r>
              <a:rPr lang="ru" sz="1300" b="0" u="none" strike="noStrike">
                <a:solidFill>
                  <a:srgbClr val="333333"/>
                </a:solidFill>
                <a:effectLst/>
                <a:uFillTx/>
                <a:latin typeface="PT Mono"/>
                <a:ea typeface="Roboto"/>
              </a:rPr>
              <a:t>Создание виртуальной машины, дисков, подключение дисков.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buClr>
                <a:srgbClr val="3F299A"/>
              </a:buClr>
              <a:buFont typeface="Roboto"/>
              <a:buChar char="●"/>
            </a:pPr>
            <a:r>
              <a:rPr lang="ru" sz="1300" b="0" u="none" strike="noStrike">
                <a:solidFill>
                  <a:srgbClr val="333333"/>
                </a:solidFill>
                <a:effectLst/>
                <a:uFillTx/>
                <a:latin typeface="PT Mono"/>
                <a:ea typeface="Roboto"/>
              </a:rPr>
              <a:t>Создание конфиг-файлов для создания кластеров с необходимыми настройками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001"/>
              </a:spcBef>
              <a:buClr>
                <a:srgbClr val="3F299A"/>
              </a:buClr>
              <a:buFont typeface="Roboto"/>
              <a:buChar char="●"/>
              <a:tabLst>
                <a:tab pos="0" algn="l"/>
              </a:tabLst>
            </a:pPr>
            <a:r>
              <a:rPr lang="ru" sz="1300" b="0" u="none" strike="noStrike">
                <a:solidFill>
                  <a:srgbClr val="333333"/>
                </a:solidFill>
                <a:effectLst/>
                <a:uFillTx/>
                <a:latin typeface="PT Mono"/>
                <a:ea typeface="Roboto"/>
              </a:rPr>
              <a:t>Создание каталогов для табличных пространств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001"/>
              </a:spcBef>
              <a:buClr>
                <a:srgbClr val="3F299A"/>
              </a:buClr>
              <a:buFont typeface="Roboto"/>
              <a:buChar char="●"/>
              <a:tabLst>
                <a:tab pos="0" algn="l"/>
              </a:tabLst>
            </a:pPr>
            <a:r>
              <a:rPr lang="ru" sz="1300" b="0" u="none" strike="noStrike">
                <a:solidFill>
                  <a:srgbClr val="333333"/>
                </a:solidFill>
                <a:effectLst/>
                <a:uFillTx/>
                <a:latin typeface="PT Mono"/>
                <a:ea typeface="Roboto"/>
              </a:rPr>
              <a:t>Перенос данных БД в табличные пространства данных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>
              <a:lnSpc>
                <a:spcPct val="115000"/>
              </a:lnSpc>
              <a:spcBef>
                <a:spcPts val="1001"/>
              </a:spcBef>
              <a:buClr>
                <a:srgbClr val="3F299A"/>
              </a:buClr>
              <a:buFont typeface="Roboto"/>
              <a:buChar char="●"/>
              <a:tabLst>
                <a:tab pos="0" algn="l"/>
              </a:tabLst>
            </a:pPr>
            <a:r>
              <a:rPr lang="ru" sz="1300" b="0" u="none" strike="noStrike">
                <a:solidFill>
                  <a:srgbClr val="333333"/>
                </a:solidFill>
                <a:effectLst/>
                <a:highlight>
                  <a:srgbClr val="FFFFFF"/>
                </a:highlight>
                <a:uFillTx/>
                <a:latin typeface="PT Mono"/>
                <a:ea typeface="Roboto"/>
              </a:rPr>
              <a:t>Перенос только индексов в отдельное табличное пространство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Что </a:t>
            </a:r>
            <a:r>
              <a:rPr lang="ru" sz="30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получилось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8" name="Google Shape;186;p 1"/>
          <p:cNvGraphicFramePr/>
          <p:nvPr/>
        </p:nvGraphicFramePr>
        <p:xfrm>
          <a:off x="574560" y="1122840"/>
          <a:ext cx="7238160" cy="301536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9276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1.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Используя средства виртуализации возможно переносить диски с данными между ВМ(разными кластерами postgresql)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9276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2.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Используя особенности использования postgres в ubuntu достаточно легко создавать кластеры с необходимыми настройками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9276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3.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Данные БД перенести в соответствующие пространства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0234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2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4.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r>
                        <a:rPr lang="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PT Mono"/>
                          <a:ea typeface="Roboto"/>
                        </a:rPr>
                        <a:t>Кластер обновить с 15 до 17 версии postgresql не получилось из-за особенностей платформы 1с (кластер 1с необходимо обновить с версии 8.3.23 до 8.3.27, затем обновить калстеры postgres)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15000"/>
                        </a:lnSpc>
                        <a:tabLst>
                          <a:tab pos="0" algn="l"/>
                        </a:tabLst>
                      </a:pP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Существующие кластеры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754560" y="1516320"/>
            <a:ext cx="8181000" cy="32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pg_lsclusters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Ver Cluster Port Status Owner    Data directory            Log file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15  archive 5433 online postgres /data/clusters/15/archive pg_log/pg-log-%a.log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15  prod    5434 online postgres /data/clusters/15/prod    pg_log/pg-log-%a.log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15  test    5432 online postgres /data/clusters/15/test    pg_log/pg-log-%a.log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Распределение данных по дискам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ubTitle"/>
          </p:nvPr>
        </p:nvSpPr>
        <p:spPr>
          <a:xfrm>
            <a:off x="754560" y="1516320"/>
            <a:ext cx="8181000" cy="32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1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df -h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Filesystem                         Size  Used Avail Use% Mounted on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tmpfs                              1.6G  876K  1.6G   1% /run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/dev/mapper/ubuntu--vg-ubuntu--lv   62G   15G   44G  26% /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tmpfs                              7.8G   36M  7.8G   1% /dev/shm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tmpfs                              5.0M     0  5.0M   0% /run/lock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/dev/sde2                          2.0G  133M  1.7G   8% /boot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/dev/sdc1                           49G  3.1G   44G   7% /data/wals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/dev/sdb1                          196G  206M  186G   1% /data/clusters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/dev/sdd1                          186G  104G   73G  59% /data/tblspcs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/dev/sda1                          125G  323M  118G   1% /distrib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tmpfs                              1.6G  4.0K  1.6G   1% /run/user/1000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Использование табличных пространств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540000" y="1275840"/>
            <a:ext cx="8181000" cy="32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psql -d postgres -U postgres -p 5432 -c '\db+'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                                       List of tablespaces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Name    |  Owner   |         Location          | Access privileges | Options |  Size   | Description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------------+----------+---------------------------+-------------------+---------+---------+-------------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pg_default | postgres |                           |                   |         | 22 MB 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pg_global  | postgres |                           |                   |         | 15 MB 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v81c_data  | postgres | /data/tblspcs/test/v8data |                   |         | 53 GB 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v81c_index | postgres | /data/tblspcs/test/v8indx |                   |         | 16 GB 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v81c_temp  | postgres | /data/tblspcs/test/v8tmpt |                   |         | 0 bytes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(5 rows)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3100" b="1" u="none" strike="noStrike">
                <a:solidFill>
                  <a:schemeClr val="dk1"/>
                </a:solidFill>
                <a:effectLst/>
                <a:uFillTx/>
                <a:latin typeface="PT Mono"/>
                <a:ea typeface="Roboto"/>
              </a:rPr>
              <a:t>Таблицы в СУБД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574560" y="1275840"/>
            <a:ext cx="7885080" cy="340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5000" lnSpcReduction="1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psql -d postgres -U postgres -p 5432 -c '\l+'          List of databases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        Name         |  Owner   | Encoding | Locale Provider |   Collate   |    Ctype    | Locale | ICU Rules |   Access privileges   |   Size   | Tablespace |  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----------------------+----------+----------+-----------------+-------------+-------------+--------+-----------+-----------------------+----------+------------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postgres             | postgres | UTF8     | libc            | ru_RU.UTF-8 | ru_RU.UTF-8 |        |           |                       | 7735 kB  | pg_default | 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stat_acc_other       | stat_sql | UTF8     | libc            | ru_RU.UTF-8 | ru_RU.UTF-8 |        |           |                       | 11 GB  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stat_alfa_invent     | stat_sql | UTF8     | libc            | ru_RU.UTF-8 | ru_RU.UTF-8 |        |           |                       | 10092 MB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stat_erp_demo        | stat_sql | UTF8     | libc            | ru_RU.UTF-8 | ru_RU.UTF-8 |        |           |                       | 2879 MB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test                 | stat_sql | UTF8     | libc            | ru_RU.UTF-8 | ru_RU.UTF-8 |        |           |                       | 1725 MB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test_stat_acc_3      | stat_sql | UTF8     | libc            | ru_RU.UTF-8 | ru_RU.UTF-8 |        |           |                       | 8141 MB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test_stat_alfa       | postgres | UTF8     | libc            | ru_RU.UTF-8 | ru_RU.UTF-8 |        |           |                       | 13 GB  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test_stat_hrm_3      | stat_sql | UTF8     | libc            | ru_RU.UTF-8 | ru_RU.UTF-8 |        |           |                       | 1638 MB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test_sync_stat_acc_3 | stat_sql | UTF8     | libc            | ru_RU.UTF-8 | ru_RU.UTF-8 |        |           |                       | 8213 MB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 test_sync_stat_alfa  | stat_sql | UTF8     | libc            | ru_RU.UTF-8 | ru_RU.UTF-8 |        |           |                       | 13 GB    | v81c_data  |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100" b="0" u="none" strike="noStrike">
                <a:solidFill>
                  <a:schemeClr val="lt1"/>
                </a:solidFill>
                <a:effectLst/>
                <a:uFillTx/>
                <a:latin typeface="Courier New"/>
                <a:ea typeface="Courier New"/>
              </a:rPr>
              <a:t>(12 rows)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todo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8" name="Google Shape;213;p42"/>
          <p:cNvGraphicFramePr/>
          <p:nvPr/>
        </p:nvGraphicFramePr>
        <p:xfrm>
          <a:off x="952560" y="1718280"/>
          <a:ext cx="7238160" cy="356400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Настройка pg_probackup, т. к. на сегодняшний день использует метод создания РК средствами 1с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Настройка мониторинга ключевых параметров ВМ(ЦП, ОЗУ, диски)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4.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Настройка мониторинга СУБД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Перераспределить место на дисках (слишком много выделено distr , etc)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0400" y="330840"/>
            <a:ext cx="8519400" cy="109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100" b="0" u="none" strike="noStrike">
                <a:solidFill>
                  <a:srgbClr val="000000"/>
                </a:solidFill>
                <a:effectLst/>
                <a:uFillTx/>
                <a:latin typeface="PT Mono"/>
              </a:rPr>
              <a:t>«Используемая литература»</a:t>
            </a:r>
            <a:endParaRPr lang="ru-RU" sz="3100" b="0" u="none" strike="noStrike">
              <a:solidFill>
                <a:srgbClr val="000000"/>
              </a:solidFill>
              <a:effectLst/>
              <a:uFillTx/>
              <a:latin typeface="PT Mono"/>
            </a:endParaRPr>
          </a:p>
        </p:txBody>
      </p:sp>
      <p:graphicFrame>
        <p:nvGraphicFramePr>
          <p:cNvPr id="150" name="Google Shape;213;p 1"/>
          <p:cNvGraphicFramePr/>
          <p:nvPr/>
        </p:nvGraphicFramePr>
        <p:xfrm>
          <a:off x="930960" y="1449720"/>
          <a:ext cx="7238160" cy="3050280"/>
        </p:xfrm>
        <a:graphic>
          <a:graphicData uri="http://schemas.openxmlformats.org/drawingml/2006/table">
            <a:tbl>
              <a:tblPr/>
              <a:tblGrid>
                <a:gridCol w="489240"/>
                <a:gridCol w="6749280"/>
              </a:tblGrid>
              <a:tr h="73116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1.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https://fastfox.pro/blog/tutorials/postgresql-tablespace-move-tables-indexes/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PT Mono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0054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2.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статья 1с с настройками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PT Mono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https://its.1c.ru/db/metod8dev/content/5866/hdoc@6f0295bc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PT Mono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913680"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600" b="1" u="none" strike="noStrike">
                          <a:solidFill>
                            <a:srgbClr val="3F299A"/>
                          </a:solidFill>
                          <a:effectLst/>
                          <a:uFillTx/>
                          <a:latin typeface="Roboto"/>
                          <a:ea typeface="Roboto"/>
                        </a:rPr>
                        <a:t>3.</a:t>
                      </a: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фрагмент документации на платформу 1с о табличных пространствах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PT Mono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T Mono"/>
                        </a:rPr>
                        <a:t>https://its.1c.ru/db/v8327doc#bookmark:cs:TI000000331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PT Mono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456840"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98000" tIns="91080" rIns="91080" bIns="91080" anchor="t">
                      <a:noAutofit/>
                    </a:bodyPr>
                    <a:p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98000" marR="91080" marT="91080" marB="91080">
                    <a:lnL w="9360">
                      <a:noFill/>
                      <a:prstDash val="solid"/>
                    </a:lnL>
                    <a:lnR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BFC1F0">
                          <a:alpha val="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221;p43"/>
          <p:cNvPicPr/>
          <p:nvPr/>
        </p:nvPicPr>
        <p:blipFill>
          <a:blip r:embed="rId1"/>
          <a:stretch/>
        </p:blipFill>
        <p:spPr>
          <a:xfrm>
            <a:off x="0" y="0"/>
            <a:ext cx="9214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22;p43"/>
          <p:cNvSpPr/>
          <p:nvPr/>
        </p:nvSpPr>
        <p:spPr>
          <a:xfrm>
            <a:off x="387000" y="1844640"/>
            <a:ext cx="7583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ru" sz="40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Вопросы и рекомендации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23;p43"/>
          <p:cNvSpPr/>
          <p:nvPr/>
        </p:nvSpPr>
        <p:spPr>
          <a:xfrm>
            <a:off x="1214640" y="3061800"/>
            <a:ext cx="192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если есть вопросы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4;p43"/>
          <p:cNvSpPr/>
          <p:nvPr/>
        </p:nvSpPr>
        <p:spPr>
          <a:xfrm>
            <a:off x="4934880" y="3061800"/>
            <a:ext cx="2144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5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если вопросов нет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25;p43"/>
          <p:cNvSpPr/>
          <p:nvPr/>
        </p:nvSpPr>
        <p:spPr>
          <a:xfrm>
            <a:off x="722880" y="2846520"/>
            <a:ext cx="49068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3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</a:t>
            </a:r>
            <a:endParaRPr lang="ru-RU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26;p43"/>
          <p:cNvSpPr/>
          <p:nvPr/>
        </p:nvSpPr>
        <p:spPr>
          <a:xfrm>
            <a:off x="4443480" y="2846520"/>
            <a:ext cx="490680" cy="14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3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– </a:t>
            </a:r>
            <a:endParaRPr lang="ru-RU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7" name="Google Shape;227;p43"/>
          <p:cNvGrpSpPr/>
          <p:nvPr/>
        </p:nvGrpSpPr>
        <p:grpSpPr>
          <a:xfrm>
            <a:off x="5573520" y="528480"/>
            <a:ext cx="3355200" cy="1235520"/>
            <a:chOff x="5573520" y="528480"/>
            <a:chExt cx="3355200" cy="1235520"/>
          </a:xfrm>
        </p:grpSpPr>
        <p:pic>
          <p:nvPicPr>
            <p:cNvPr id="158" name="Google Shape;228;p43"/>
            <p:cNvPicPr/>
            <p:nvPr/>
          </p:nvPicPr>
          <p:blipFill>
            <a:blip r:embed="rId2"/>
            <a:stretch/>
          </p:blipFill>
          <p:spPr>
            <a:xfrm>
              <a:off x="5573520" y="528480"/>
              <a:ext cx="3355200" cy="1235520"/>
            </a:xfrm>
            <a:prstGeom prst="rect">
              <a:avLst/>
            </a:prstGeom>
            <a:noFill/>
            <a:ln w="0">
              <a:noFill/>
            </a:ln>
            <a:effectLst>
              <a:outerShdw algn="bl" blurRad="200160" dir="4197285" dist="28357" rotWithShape="0">
                <a:srgbClr val="000000">
                  <a:alpha val="30000"/>
                </a:srgbClr>
              </a:outerShdw>
            </a:effectLst>
          </p:spPr>
        </p:pic>
        <p:sp>
          <p:nvSpPr>
            <p:cNvPr id="159" name="Google Shape;229;p43"/>
            <p:cNvSpPr/>
            <p:nvPr/>
          </p:nvSpPr>
          <p:spPr>
            <a:xfrm>
              <a:off x="6077880" y="685080"/>
              <a:ext cx="2678400" cy="91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t">
              <a:spAutoFit/>
            </a:bodyPr>
            <a:p>
              <a:pPr>
                <a:lnSpc>
                  <a:spcPct val="100000"/>
                </a:lnSpc>
                <a:spcBef>
                  <a:spcPts val="601"/>
                </a:spcBef>
                <a:tabLst>
                  <a:tab pos="0" algn="l"/>
                </a:tabLst>
              </a:pPr>
              <a:r>
                <a:rPr lang="ru" sz="1200" b="0" u="none" strike="noStrike">
                  <a:solidFill>
                    <a:schemeClr val="dk1"/>
                  </a:solidFill>
                  <a:effectLst/>
                  <a:uFillTx/>
                  <a:latin typeface="Roboto"/>
                  <a:ea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234;p44"/>
          <p:cNvPicPr/>
          <p:nvPr/>
        </p:nvPicPr>
        <p:blipFill>
          <a:blip r:embed="rId1"/>
          <a:stretch/>
        </p:blipFill>
        <p:spPr>
          <a:xfrm>
            <a:off x="0" y="0"/>
            <a:ext cx="9214920" cy="514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28920" y="1932480"/>
            <a:ext cx="7293960" cy="19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50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Спасибо за внимание!</a:t>
            </a:r>
            <a:endParaRPr lang="ru-RU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Google Shape;236;p44"/>
          <p:cNvPicPr/>
          <p:nvPr/>
        </p:nvPicPr>
        <p:blipFill>
          <a:blip r:embed="rId2"/>
          <a:stretch/>
        </p:blipFill>
        <p:spPr>
          <a:xfrm>
            <a:off x="6727320" y="231840"/>
            <a:ext cx="2269800" cy="304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614;p77"/>
          <p:cNvPicPr/>
          <p:nvPr/>
        </p:nvPicPr>
        <p:blipFill>
          <a:blip r:embed="rId1"/>
          <a:stretch/>
        </p:blipFill>
        <p:spPr>
          <a:xfrm>
            <a:off x="0" y="360"/>
            <a:ext cx="9142920" cy="510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Google Shape;615;p77"/>
          <p:cNvSpPr/>
          <p:nvPr/>
        </p:nvSpPr>
        <p:spPr>
          <a:xfrm>
            <a:off x="720000" y="696600"/>
            <a:ext cx="7129800" cy="31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Единственно верного 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решения не существует. 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Хотя существует 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45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много неверных.</a:t>
            </a:r>
            <a:endParaRPr lang="ru-RU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ru-RU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616;p77"/>
          <p:cNvSpPr/>
          <p:nvPr/>
        </p:nvSpPr>
        <p:spPr>
          <a:xfrm>
            <a:off x="5527800" y="3852000"/>
            <a:ext cx="34153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Дэвид Акин, NASA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2026-04-08T19:35:23Z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